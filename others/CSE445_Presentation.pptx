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matic SC"/>
      <p:regular r:id="rId19"/>
      <p:bold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Source Code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FF1284-8BCB-4D7C-B13A-4516F6F3DD5E}">
  <a:tblStyle styleId="{C8FF1284-8BCB-4D7C-B13A-4516F6F3D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A87EAEC-4EAB-4EBE-8946-ADB2D5035A3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bold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maticSC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04a33fa0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04a33fa0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4a33fa0c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4a33fa0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4c9d3f76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04c9d3f76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4c9d3f76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4c9d3f76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4c9d3f76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4c9d3f76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04c9d3f76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04c9d3f76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4c9d3f76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04c9d3f76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4c9d3f76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4c9d3f76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4c9d3f76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4c9d3f76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5d166063_3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5d166063_3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5d166063_3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05d166063_3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515725" y="793775"/>
            <a:ext cx="5321100" cy="15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88"/>
              <a:t>Developing a clustering model that identifies emerging trends and topics</a:t>
            </a:r>
            <a:endParaRPr sz="48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556675" y="1202113"/>
            <a:ext cx="5239200" cy="30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CSE 445.5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Group 09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Group Members: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3991600" y="330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{C8FF1284-8BCB-4D7C-B13A-4516F6F3DD5E}</a:tableStyleId>
              </a:tblPr>
              <a:tblGrid>
                <a:gridCol w="2206650"/>
                <a:gridCol w="2162700"/>
              </a:tblGrid>
              <a:tr h="34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Habiba Alam Raisa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2231272642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4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Sadia Islam 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2212030042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Shakela Mostafa Priya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2132049642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4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Tanushree Das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2212225042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9" name="Google Shape;59;p13" title="90a2cfb3bd094a6fa69f3c983fe69f8c36e351a3985428a9c95253e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310451" cy="510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1389075" y="1772700"/>
            <a:ext cx="1032000" cy="18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677700" y="2691575"/>
            <a:ext cx="3836400" cy="22698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0124D"/>
                </a:solidFill>
              </a:rPr>
              <a:t>Our</a:t>
            </a:r>
            <a:r>
              <a:rPr b="1" lang="en-GB" sz="1800">
                <a:solidFill>
                  <a:srgbClr val="20124D"/>
                </a:solidFill>
              </a:rPr>
              <a:t> project aims to collect a diverse dataset of public social media posts from various platforms and develop a clustering model that identifies emerging trends and topics in these posts.</a:t>
            </a:r>
            <a:endParaRPr b="1" sz="1800">
              <a:solidFill>
                <a:srgbClr val="20124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same-hashta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25" y="421800"/>
            <a:ext cx="2530726" cy="429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SOCIAL-MEDIA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625" y="242900"/>
            <a:ext cx="3959693" cy="226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hashtag-in-speech-bubble-line-icon-hashtag-sign-symbol-simple-pictogram-illustration-isolated-on-a-white-background-sign-for-mobile-app-and-web-sites-vector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5550" y="242900"/>
            <a:ext cx="923400" cy="105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92850"/>
            <a:ext cx="32865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755">
                <a:solidFill>
                  <a:srgbClr val="073763"/>
                </a:solidFill>
              </a:rPr>
              <a:t>Data Collection</a:t>
            </a:r>
            <a:endParaRPr sz="5755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519825" y="2179175"/>
            <a:ext cx="2489700" cy="21900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117">
                <a:solidFill>
                  <a:schemeClr val="accent1"/>
                </a:solidFill>
              </a:rPr>
              <a:t>Platforms</a:t>
            </a:r>
            <a:endParaRPr b="1" sz="6117">
              <a:solidFill>
                <a:schemeClr val="accent1"/>
              </a:solidFill>
            </a:endParaRPr>
          </a:p>
          <a:p>
            <a:pPr indent="-325719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b="1" lang="en-GB" sz="6117">
                <a:solidFill>
                  <a:schemeClr val="accent1"/>
                </a:solidFill>
              </a:rPr>
              <a:t>Reddit: </a:t>
            </a:r>
            <a:r>
              <a:rPr lang="en-GB" sz="6117">
                <a:solidFill>
                  <a:schemeClr val="accent1"/>
                </a:solidFill>
              </a:rPr>
              <a:t>Public posts from various subreddits.</a:t>
            </a:r>
            <a:endParaRPr sz="6117">
              <a:solidFill>
                <a:schemeClr val="accent1"/>
              </a:solidFill>
            </a:endParaRPr>
          </a:p>
          <a:p>
            <a:pPr indent="-325719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b="1" lang="en-GB" sz="6117">
                <a:solidFill>
                  <a:schemeClr val="accent1"/>
                </a:solidFill>
              </a:rPr>
              <a:t>Instagram:</a:t>
            </a:r>
            <a:r>
              <a:rPr lang="en-GB" sz="6117">
                <a:solidFill>
                  <a:schemeClr val="accent1"/>
                </a:solidFill>
              </a:rPr>
              <a:t>  Public captions and posts</a:t>
            </a:r>
            <a:r>
              <a:rPr lang="en-GB" sz="6117">
                <a:solidFill>
                  <a:schemeClr val="dk2"/>
                </a:solidFill>
              </a:rPr>
              <a:t>.</a:t>
            </a:r>
            <a:endParaRPr sz="6117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361400" y="2179175"/>
            <a:ext cx="2489700" cy="21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Source Code Pro"/>
                <a:ea typeface="Source Code Pro"/>
                <a:cs typeface="Source Code Pro"/>
                <a:sym typeface="Source Code Pro"/>
              </a:rPr>
              <a:t>Dataset Scale</a:t>
            </a:r>
            <a:endParaRPr b="1"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Source Code Pro"/>
                <a:ea typeface="Source Code Pro"/>
                <a:cs typeface="Source Code Pro"/>
                <a:sym typeface="Source Code Pro"/>
              </a:rPr>
              <a:t>The combined dataset consists of 1,017,100 entries, providing a robust foundation for trend analysis.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443050" y="2179175"/>
            <a:ext cx="2106600" cy="21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Source Code Pro"/>
                <a:ea typeface="Source Code Pro"/>
                <a:cs typeface="Source Code Pro"/>
                <a:sym typeface="Source Code Pro"/>
              </a:rPr>
              <a:t>Attributes</a:t>
            </a:r>
            <a:endParaRPr b="1"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Source Code Pro"/>
                <a:ea typeface="Source Code Pro"/>
                <a:cs typeface="Source Code Pro"/>
                <a:sym typeface="Source Code Pro"/>
              </a:rPr>
              <a:t>Each entry includes text content and a source identifier for the platform</a:t>
            </a:r>
            <a:r>
              <a:rPr lang="en-GB" sz="1500"/>
              <a:t>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Extraction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549825" y="1441975"/>
            <a:ext cx="3088200" cy="17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 Vectorization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SVD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 Embeddings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6" title="Screenshot 2025-12-14 1411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650" y="990075"/>
            <a:ext cx="5201175" cy="3163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760"/>
              <a:t>Methodology: A Multi-Model Approach</a:t>
            </a:r>
            <a:endParaRPr sz="47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860"/>
          </a:p>
        </p:txBody>
      </p:sp>
      <p:sp>
        <p:nvSpPr>
          <p:cNvPr id="89" name="Google Shape;89;p17"/>
          <p:cNvSpPr txBox="1"/>
          <p:nvPr>
            <p:ph idx="2" type="body"/>
          </p:nvPr>
        </p:nvSpPr>
        <p:spPr>
          <a:xfrm>
            <a:off x="4788950" y="714375"/>
            <a:ext cx="3981900" cy="44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434343"/>
                </a:solidFill>
              </a:rPr>
              <a:t>Mini-Batch K-Means </a:t>
            </a:r>
            <a:endParaRPr b="1" sz="1400">
              <a:solidFill>
                <a:srgbClr val="434343"/>
              </a:solidFill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To overcome the limitations of static K-Means</a:t>
            </a:r>
            <a:endParaRPr sz="1200">
              <a:solidFill>
                <a:srgbClr val="434343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Cluster centroids are updated incrementally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434343"/>
                </a:solidFill>
              </a:rPr>
              <a:t>BIRCH</a:t>
            </a:r>
            <a:endParaRPr b="1" sz="1400">
              <a:solidFill>
                <a:srgbClr val="434343"/>
              </a:solidFill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memory-efficient clustering algorithm</a:t>
            </a:r>
            <a:endParaRPr sz="1200">
              <a:solidFill>
                <a:srgbClr val="434343"/>
              </a:solidFill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scales well for high-dimensional data.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434343"/>
                </a:solidFill>
              </a:rPr>
              <a:t> HDBSCAN </a:t>
            </a:r>
            <a:endParaRPr b="1" sz="1400">
              <a:solidFill>
                <a:srgbClr val="434343"/>
              </a:solidFill>
            </a:endParaRPr>
          </a:p>
          <a:p>
            <a:pPr indent="-29011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50">
                <a:solidFill>
                  <a:srgbClr val="434343"/>
                </a:solidFill>
              </a:rPr>
              <a:t>to find clusters of varying density while automatically identifying noise</a:t>
            </a:r>
            <a:endParaRPr sz="125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434343"/>
                </a:solidFill>
              </a:rPr>
              <a:t>Agglomerative Clustering</a:t>
            </a:r>
            <a:endParaRPr sz="1600">
              <a:solidFill>
                <a:srgbClr val="434343"/>
              </a:solidFill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to find clusters of varying density while automatically identifying noise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434343"/>
                </a:solidFill>
              </a:rPr>
              <a:t>Gaussian Mixture Models</a:t>
            </a:r>
            <a:endParaRPr b="1" sz="1400">
              <a:solidFill>
                <a:srgbClr val="434343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GMM is employed to model clusters as probabilistic distributions</a:t>
            </a:r>
            <a:endParaRPr sz="1200">
              <a:solidFill>
                <a:srgbClr val="434343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GB" sz="1200">
                <a:solidFill>
                  <a:srgbClr val="434343"/>
                </a:solidFill>
              </a:rPr>
              <a:t>provides additional insight into overlapping trends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552300" y="2486225"/>
            <a:ext cx="3471600" cy="1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-GB" sz="1135">
                <a:solidFill>
                  <a:srgbClr val="000000"/>
                </a:solidFill>
              </a:rPr>
              <a:t>K</a:t>
            </a:r>
            <a:r>
              <a:rPr b="1" lang="en-GB" sz="1335">
                <a:solidFill>
                  <a:srgbClr val="000000"/>
                </a:solidFill>
              </a:rPr>
              <a:t>ey Models Used:</a:t>
            </a:r>
            <a:endParaRPr b="1" sz="1335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335">
                <a:solidFill>
                  <a:srgbClr val="000000"/>
                </a:solidFill>
              </a:rPr>
              <a:t>• Centroid-Based: K-Means, Mini-Batch K-Means</a:t>
            </a:r>
            <a:endParaRPr sz="1335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335">
                <a:solidFill>
                  <a:srgbClr val="000000"/>
                </a:solidFill>
              </a:rPr>
              <a:t>• Hierarchical: BIRCH, Agglomerative Clustering</a:t>
            </a:r>
            <a:endParaRPr sz="1335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335">
                <a:solidFill>
                  <a:srgbClr val="000000"/>
                </a:solidFill>
              </a:rPr>
              <a:t>• Density-Based: HDBSCAN</a:t>
            </a:r>
            <a:endParaRPr sz="1335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335">
                <a:solidFill>
                  <a:srgbClr val="000000"/>
                </a:solidFill>
              </a:rPr>
              <a:t>• Probabilistic: Gaussian Mixture Models (GMM)</a:t>
            </a:r>
            <a:endParaRPr sz="1335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73175" y="198600"/>
            <a:ext cx="4826400" cy="13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C9DAF8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Ensemble Approach</a:t>
            </a:r>
            <a:endParaRPr>
              <a:highlight>
                <a:srgbClr val="C9DAF8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244900" y="1580100"/>
            <a:ext cx="85182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-GB" sz="1700">
                <a:solidFill>
                  <a:srgbClr val="000000"/>
                </a:solidFill>
              </a:rPr>
              <a:t>K-Means and Gaussian Mixture Models 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-GB" sz="1700">
                <a:solidFill>
                  <a:srgbClr val="000000"/>
                </a:solidFill>
              </a:rPr>
              <a:t>K-Means with TF-IDF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en-GB" sz="1700">
                <a:solidFill>
                  <a:srgbClr val="000000"/>
                </a:solidFill>
              </a:rPr>
              <a:t>HDBSCAN with BERTopic</a:t>
            </a:r>
            <a:endParaRPr sz="17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8" title="Screenshot 2025-12-14 1419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00" y="2571738"/>
            <a:ext cx="838200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51350" y="384175"/>
            <a:ext cx="52917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</a:t>
            </a:r>
            <a:r>
              <a:rPr lang="en-GB" sz="5311"/>
              <a:t>Model Evaluation</a:t>
            </a:r>
            <a:endParaRPr sz="53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585350" y="1177375"/>
            <a:ext cx="2960100" cy="35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Quantitative Evaluation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/>
              <a:t>Silhouette Score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/>
              <a:t>Davies-Bouldin Index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-GB" sz="1500"/>
              <a:t>Calinski-Harabasz Index</a:t>
            </a:r>
            <a:endParaRPr b="1" sz="1500"/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500900"/>
            <a:ext cx="3607800" cy="30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05" name="Google Shape;105;p19" title="Screenshot 2025-12-14 1324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19350"/>
            <a:ext cx="2724150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 title="Screenshot 2025-12-14 1322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850" y="2338525"/>
            <a:ext cx="2724150" cy="11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Screenshot 2025-12-14 1320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500" y="3505350"/>
            <a:ext cx="3121325" cy="10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20"/>
          <p:cNvGraphicFramePr/>
          <p:nvPr/>
        </p:nvGraphicFramePr>
        <p:xfrm>
          <a:off x="1881425" y="150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{AA87EAEC-4EAB-4EBE-8946-ADB2D5035A38}</a:tableStyleId>
              </a:tblPr>
              <a:tblGrid>
                <a:gridCol w="1656750"/>
                <a:gridCol w="923175"/>
                <a:gridCol w="1236400"/>
                <a:gridCol w="1425975"/>
              </a:tblGrid>
              <a:tr h="53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Clustering Method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Silhouette Score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Davies-Bouldin Index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Calinski-Harabasz Index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7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Hierarchical Clustering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0.0019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5.2744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K-Means (TF-IDF)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35.37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K-Means (SBERT embeddings)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103.44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Agglomerative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18.50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Gaussian Mixture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35.37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0.5644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0.5329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13349.22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20"/>
          <p:cNvSpPr/>
          <p:nvPr/>
        </p:nvSpPr>
        <p:spPr>
          <a:xfrm>
            <a:off x="1805725" y="461100"/>
            <a:ext cx="5393700" cy="76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ato"/>
                <a:ea typeface="Lato"/>
                <a:cs typeface="Lato"/>
                <a:sym typeface="Lato"/>
              </a:rPr>
              <a:t>Comparison of Clustering Performance Metrics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sz="1400">
                <a:solidFill>
                  <a:schemeClr val="dk2"/>
                </a:solidFill>
              </a:rPr>
              <a:t>TF-IDF keywords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sz="1400">
                <a:solidFill>
                  <a:schemeClr val="dk2"/>
                </a:solidFill>
              </a:rPr>
              <a:t>PCA visualization of SBERT embeddings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300" y="1318638"/>
            <a:ext cx="33718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Qualitative Evaluation</a:t>
            </a:r>
            <a:endParaRPr sz="2800"/>
          </a:p>
        </p:txBody>
      </p:sp>
      <p:pic>
        <p:nvPicPr>
          <p:cNvPr id="121" name="Google Shape;121;p21" title="Screenshot 2025-12-14 1425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750" y="2080850"/>
            <a:ext cx="3431550" cy="25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4294967295" type="title"/>
          </p:nvPr>
        </p:nvSpPr>
        <p:spPr>
          <a:xfrm>
            <a:off x="783825" y="134850"/>
            <a:ext cx="768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Trend Analysis</a:t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Source Code Pro"/>
              <a:buChar char="●"/>
            </a:pPr>
            <a:r>
              <a:rPr b="0" lang="en-GB" sz="1666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Hashtags and Mentions</a:t>
            </a:r>
            <a:endParaRPr b="0" sz="1666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Source Code Pro"/>
              <a:buChar char="●"/>
            </a:pPr>
            <a:r>
              <a:rPr b="0" lang="en-GB" sz="1666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Named Entities</a:t>
            </a:r>
            <a:endParaRPr b="0" sz="1666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Source Code Pro"/>
              <a:buChar char="●"/>
            </a:pPr>
            <a:r>
              <a:rPr b="0" lang="en-GB" sz="1666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Word/Phrase Frequencies</a:t>
            </a:r>
            <a:endParaRPr b="0" sz="1666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27" name="Google Shape;127;p22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773125"/>
            <a:ext cx="4330701" cy="32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 title="Screenshot 2025-12-13 1949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900" y="1981200"/>
            <a:ext cx="4330700" cy="30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</a:t>
            </a:r>
            <a:r>
              <a:rPr lang="en-GB"/>
              <a:t>conclusion</a:t>
            </a:r>
            <a:r>
              <a:rPr lang="en-GB"/>
              <a:t>                               Future work                                        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5246075" y="1515550"/>
            <a:ext cx="2623200" cy="30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434343"/>
                </a:solidFill>
              </a:rPr>
              <a:t>Future work will focus on real-time, multilingual trend detection using online and neural clustering methods to better track evolving social media discussions.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597450" y="1549450"/>
            <a:ext cx="2729100" cy="29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434343"/>
                </a:solidFill>
              </a:rPr>
              <a:t>The proposed dynamic clustering framework effectively identifies emerging social media trends and provides a scalable solution for analyzing continuously evolving online content.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thank-you-text-button-thank-you-sign-icon-label-sticker-web-buttons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0" y="152400"/>
            <a:ext cx="67998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